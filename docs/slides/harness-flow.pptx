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0896" y="109728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 spc="20">
                <a:solidFill>
                  <a:srgbClr val="1A1E2C"/>
                </a:solidFill>
                <a:latin typeface="Segoe UI"/>
              </a:rPr>
              <a:t>ONE GOAL, EIGHT ENGINES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5720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C6377"/>
                </a:solidFill>
                <a:latin typeface="Segoe UI"/>
              </a:rPr>
              <a:t>What the Family Hub does with a sentence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676656"/>
            <a:ext cx="4937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868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46085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1A1E2C"/>
                </a:solidFill>
                <a:latin typeface="Segoe UI"/>
              </a:rPr>
              <a:t>"Help the family eat healthier next week, and cut food waste."</a:t>
            </a:r>
          </a:p>
        </p:txBody>
      </p:sp>
      <p:sp>
        <p:nvSpPr>
          <p:cNvPr id="7" name="Freeform 6"/>
          <p:cNvSpPr/>
          <p:nvPr/>
        </p:nvSpPr>
        <p:spPr>
          <a:xfrm>
            <a:off x="5321808" y="804672"/>
            <a:ext cx="256032" cy="128016"/>
          </a:xfrm>
          <a:custGeom>
            <a:avLst/>
            <a:gdLst/>
            <a:ahLst/>
            <a:cxnLst/>
            <a:rect l="l" t="t" r="r" b="b"/>
            <a:pathLst>
              <a:path w="256032" h="128016">
                <a:moveTo>
                  <a:pt x="0" y="45720"/>
                </a:moveTo>
                <a:lnTo>
                  <a:pt x="155448" y="45720"/>
                </a:lnTo>
                <a:lnTo>
                  <a:pt x="155448" y="0"/>
                </a:lnTo>
                <a:lnTo>
                  <a:pt x="256032" y="64008"/>
                </a:lnTo>
                <a:lnTo>
                  <a:pt x="155448" y="128016"/>
                </a:lnTo>
                <a:lnTo>
                  <a:pt x="155448" y="82296"/>
                </a:lnTo>
                <a:lnTo>
                  <a:pt x="0" y="8229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50992" y="676656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 w="19050">
            <a:solidFill>
              <a:srgbClr val="3F6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93308" y="740664"/>
            <a:ext cx="100584" cy="10058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852160" y="877824"/>
            <a:ext cx="182880" cy="91440"/>
          </a:xfrm>
          <a:custGeom>
            <a:avLst/>
            <a:gdLst/>
            <a:ahLst/>
            <a:cxnLst/>
            <a:rect l="l" t="t" r="r" b="b"/>
            <a:pathLst>
              <a:path w="182880" h="91440">
                <a:moveTo>
                  <a:pt x="0" y="91440"/>
                </a:moveTo>
                <a:lnTo>
                  <a:pt x="1757" y="73601"/>
                </a:lnTo>
                <a:lnTo>
                  <a:pt x="6960" y="56447"/>
                </a:lnTo>
                <a:lnTo>
                  <a:pt x="15410" y="40639"/>
                </a:lnTo>
                <a:lnTo>
                  <a:pt x="26782" y="26782"/>
                </a:lnTo>
                <a:lnTo>
                  <a:pt x="40639" y="15410"/>
                </a:lnTo>
                <a:lnTo>
                  <a:pt x="56447" y="6960"/>
                </a:lnTo>
                <a:lnTo>
                  <a:pt x="73601" y="1757"/>
                </a:lnTo>
                <a:lnTo>
                  <a:pt x="91440" y="0"/>
                </a:lnTo>
                <a:lnTo>
                  <a:pt x="109279" y="1757"/>
                </a:lnTo>
                <a:lnTo>
                  <a:pt x="126433" y="6960"/>
                </a:lnTo>
                <a:lnTo>
                  <a:pt x="142241" y="15410"/>
                </a:lnTo>
                <a:lnTo>
                  <a:pt x="156098" y="26782"/>
                </a:lnTo>
                <a:lnTo>
                  <a:pt x="167470" y="40639"/>
                </a:lnTo>
                <a:lnTo>
                  <a:pt x="175920" y="56447"/>
                </a:lnTo>
                <a:lnTo>
                  <a:pt x="181123" y="73601"/>
                </a:lnTo>
                <a:lnTo>
                  <a:pt x="182880" y="91440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676656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1A1E2C"/>
                </a:solidFill>
                <a:latin typeface="Segoe UI"/>
              </a:rPr>
              <a:t>Confirm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C6377"/>
                </a:solidFill>
                <a:latin typeface="Segoe UI"/>
              </a:rPr>
              <a:t>The family checks it heard right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22592" y="1069848"/>
            <a:ext cx="0" cy="128016"/>
          </a:xfrm>
          <a:prstGeom prst="line">
            <a:avLst/>
          </a:prstGeom>
          <a:ln w="27940">
            <a:solidFill>
              <a:srgbClr val="3F6F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39696" y="1197864"/>
            <a:ext cx="4892954" cy="0"/>
          </a:xfrm>
          <a:prstGeom prst="line">
            <a:avLst/>
          </a:prstGeom>
          <a:ln w="27940">
            <a:solidFill>
              <a:srgbClr val="3F6F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2075688" y="1188720"/>
            <a:ext cx="128016" cy="137160"/>
          </a:xfrm>
          <a:custGeom>
            <a:avLst/>
            <a:gdLst/>
            <a:ahLst/>
            <a:cxnLst/>
            <a:rect l="l" t="t" r="r" b="b"/>
            <a:pathLst>
              <a:path w="128016" h="137160">
                <a:moveTo>
                  <a:pt x="45720" y="0"/>
                </a:moveTo>
                <a:lnTo>
                  <a:pt x="45720" y="36576"/>
                </a:lnTo>
                <a:lnTo>
                  <a:pt x="0" y="36576"/>
                </a:lnTo>
                <a:lnTo>
                  <a:pt x="64008" y="137160"/>
                </a:lnTo>
                <a:lnTo>
                  <a:pt x="128016" y="36576"/>
                </a:lnTo>
                <a:lnTo>
                  <a:pt x="82296" y="36576"/>
                </a:lnTo>
                <a:lnTo>
                  <a:pt x="82296" y="0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" y="1353312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463040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6304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146304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Pre-check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755648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Make sure things work before it starts.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2103120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103120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210312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The fridge is online and the account is signed 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" y="2514600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514600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" y="251460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If it weren't, it stops here — before writing a plan nobody could use.</a:t>
            </a:r>
          </a:p>
        </p:txBody>
      </p:sp>
      <p:sp>
        <p:nvSpPr>
          <p:cNvPr id="26" name="Freeform 25"/>
          <p:cNvSpPr/>
          <p:nvPr/>
        </p:nvSpPr>
        <p:spPr>
          <a:xfrm>
            <a:off x="4005072" y="2084832"/>
            <a:ext cx="219456" cy="128016"/>
          </a:xfrm>
          <a:custGeom>
            <a:avLst/>
            <a:gdLst/>
            <a:ahLst/>
            <a:cxnLst/>
            <a:rect l="l" t="t" r="r" b="b"/>
            <a:pathLst>
              <a:path w="219456" h="128016">
                <a:moveTo>
                  <a:pt x="0" y="45720"/>
                </a:moveTo>
                <a:lnTo>
                  <a:pt x="118872" y="45720"/>
                </a:lnTo>
                <a:lnTo>
                  <a:pt x="118872" y="0"/>
                </a:lnTo>
                <a:lnTo>
                  <a:pt x="219456" y="64008"/>
                </a:lnTo>
                <a:lnTo>
                  <a:pt x="118872" y="128016"/>
                </a:lnTo>
                <a:lnTo>
                  <a:pt x="118872" y="82296"/>
                </a:lnTo>
                <a:lnTo>
                  <a:pt x="0" y="8229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61104" y="1353312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07408" y="1463040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146304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146304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Capability 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1755648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Know what the fridge can 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0832" y="2103120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2272" y="2103120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6864" y="210312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Picks what this goal needs: food, recipes, activity, shopping.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0832" y="2514600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2514600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6864" y="251460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Leaves out the rest — it won't touch the door locks to plan dinner.</a:t>
            </a:r>
          </a:p>
        </p:txBody>
      </p:sp>
      <p:sp>
        <p:nvSpPr>
          <p:cNvPr id="38" name="Freeform 37"/>
          <p:cNvSpPr/>
          <p:nvPr/>
        </p:nvSpPr>
        <p:spPr>
          <a:xfrm>
            <a:off x="7955280" y="2084832"/>
            <a:ext cx="219456" cy="128016"/>
          </a:xfrm>
          <a:custGeom>
            <a:avLst/>
            <a:gdLst/>
            <a:ahLst/>
            <a:cxnLst/>
            <a:rect l="l" t="t" r="r" b="b"/>
            <a:pathLst>
              <a:path w="219456" h="128016">
                <a:moveTo>
                  <a:pt x="0" y="45720"/>
                </a:moveTo>
                <a:lnTo>
                  <a:pt x="118872" y="45720"/>
                </a:lnTo>
                <a:lnTo>
                  <a:pt x="118872" y="0"/>
                </a:lnTo>
                <a:lnTo>
                  <a:pt x="219456" y="64008"/>
                </a:lnTo>
                <a:lnTo>
                  <a:pt x="118872" y="128016"/>
                </a:lnTo>
                <a:lnTo>
                  <a:pt x="118872" y="82296"/>
                </a:lnTo>
                <a:lnTo>
                  <a:pt x="0" y="8229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11312" y="1353312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57616" y="1463040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6" y="146304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146304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Task Manager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57616" y="1755648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Break the goal into jobs and follow them.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1040" y="2103120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2103120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77072" y="210312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Two jobs from one sentence: eat healthier, and waste less.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2514600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2514600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7072" y="251460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Under them: find what's going off, choose meals, fix the shopping list.</a:t>
            </a:r>
          </a:p>
        </p:txBody>
      </p:sp>
      <p:sp>
        <p:nvSpPr>
          <p:cNvPr id="50" name="Freeform 49"/>
          <p:cNvSpPr/>
          <p:nvPr/>
        </p:nvSpPr>
        <p:spPr>
          <a:xfrm>
            <a:off x="9976104" y="2971800"/>
            <a:ext cx="128016" cy="210312"/>
          </a:xfrm>
          <a:custGeom>
            <a:avLst/>
            <a:gdLst/>
            <a:ahLst/>
            <a:cxnLst/>
            <a:rect l="l" t="t" r="r" b="b"/>
            <a:pathLst>
              <a:path w="128016" h="210312">
                <a:moveTo>
                  <a:pt x="45720" y="0"/>
                </a:moveTo>
                <a:lnTo>
                  <a:pt x="45720" y="109728"/>
                </a:lnTo>
                <a:lnTo>
                  <a:pt x="0" y="109728"/>
                </a:lnTo>
                <a:lnTo>
                  <a:pt x="64008" y="210312"/>
                </a:lnTo>
                <a:lnTo>
                  <a:pt x="128016" y="109728"/>
                </a:lnTo>
                <a:lnTo>
                  <a:pt x="82296" y="109728"/>
                </a:lnTo>
                <a:lnTo>
                  <a:pt x="82296" y="0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211312" y="3209544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357616" y="3319272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57616" y="33192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3319272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Grounding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57616" y="3611880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Go and look at what is really there.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21040" y="3959352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0" y="3959352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77072" y="395935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Reads the fridge: spinach, yoghurt, bread and chicken go off in three days.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21040" y="4370832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4370832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7072" y="437083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Reads the family: a peanut allergy, no pork, low salt, and how much everyone has been moving.</a:t>
            </a:r>
          </a:p>
        </p:txBody>
      </p:sp>
      <p:sp>
        <p:nvSpPr>
          <p:cNvPr id="62" name="Freeform 61"/>
          <p:cNvSpPr/>
          <p:nvPr/>
        </p:nvSpPr>
        <p:spPr>
          <a:xfrm>
            <a:off x="7955280" y="3941064"/>
            <a:ext cx="219456" cy="128016"/>
          </a:xfrm>
          <a:custGeom>
            <a:avLst/>
            <a:gdLst/>
            <a:ahLst/>
            <a:cxnLst/>
            <a:rect l="l" t="t" r="r" b="b"/>
            <a:pathLst>
              <a:path w="219456" h="128016">
                <a:moveTo>
                  <a:pt x="219456" y="45720"/>
                </a:moveTo>
                <a:lnTo>
                  <a:pt x="100584" y="45720"/>
                </a:lnTo>
                <a:lnTo>
                  <a:pt x="100584" y="0"/>
                </a:lnTo>
                <a:lnTo>
                  <a:pt x="0" y="64008"/>
                </a:lnTo>
                <a:lnTo>
                  <a:pt x="100584" y="128016"/>
                </a:lnTo>
                <a:lnTo>
                  <a:pt x="100584" y="82296"/>
                </a:lnTo>
                <a:lnTo>
                  <a:pt x="219456" y="8229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61104" y="3209544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407408" y="3319272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07408" y="33192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36592" y="3319272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Planner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07408" y="3611880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Work out the week, day by day.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70832" y="3959352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62272" y="3959352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6864" y="395935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Puts the spinach and chicken in the first dinners, so nothing goes in the bin.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70832" y="4370832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62272" y="4370832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26864" y="437083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Turns down beef chilli — the family would rather have white meat — and says so.</a:t>
            </a:r>
          </a:p>
        </p:txBody>
      </p:sp>
      <p:sp>
        <p:nvSpPr>
          <p:cNvPr id="74" name="Freeform 73"/>
          <p:cNvSpPr/>
          <p:nvPr/>
        </p:nvSpPr>
        <p:spPr>
          <a:xfrm>
            <a:off x="4005072" y="3941064"/>
            <a:ext cx="219456" cy="128016"/>
          </a:xfrm>
          <a:custGeom>
            <a:avLst/>
            <a:gdLst/>
            <a:ahLst/>
            <a:cxnLst/>
            <a:rect l="l" t="t" r="r" b="b"/>
            <a:pathLst>
              <a:path w="219456" h="128016">
                <a:moveTo>
                  <a:pt x="219456" y="45720"/>
                </a:moveTo>
                <a:lnTo>
                  <a:pt x="100584" y="45720"/>
                </a:lnTo>
                <a:lnTo>
                  <a:pt x="100584" y="0"/>
                </a:lnTo>
                <a:lnTo>
                  <a:pt x="0" y="64008"/>
                </a:lnTo>
                <a:lnTo>
                  <a:pt x="100584" y="128016"/>
                </a:lnTo>
                <a:lnTo>
                  <a:pt x="100584" y="82296"/>
                </a:lnTo>
                <a:lnTo>
                  <a:pt x="219456" y="8229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10896" y="3209544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57200" y="3319272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33192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" y="3319272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Safety Policy Engine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3611880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Decide what it may do alone, and what it must ask about.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0624" y="3959352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2064" y="3959352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6656" y="395935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Pork never even reaches the list of options.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0624" y="4370832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2064" y="4370832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" y="437083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Suggesting the shopping is fine; actually ordering it needs a yes.</a:t>
            </a:r>
          </a:p>
        </p:txBody>
      </p:sp>
      <p:sp>
        <p:nvSpPr>
          <p:cNvPr id="86" name="Freeform 85"/>
          <p:cNvSpPr/>
          <p:nvPr/>
        </p:nvSpPr>
        <p:spPr>
          <a:xfrm>
            <a:off x="2075688" y="4828032"/>
            <a:ext cx="128016" cy="210312"/>
          </a:xfrm>
          <a:custGeom>
            <a:avLst/>
            <a:gdLst/>
            <a:ahLst/>
            <a:cxnLst/>
            <a:rect l="l" t="t" r="r" b="b"/>
            <a:pathLst>
              <a:path w="128016" h="210312">
                <a:moveTo>
                  <a:pt x="45720" y="0"/>
                </a:moveTo>
                <a:lnTo>
                  <a:pt x="45720" y="109728"/>
                </a:lnTo>
                <a:lnTo>
                  <a:pt x="0" y="109728"/>
                </a:lnTo>
                <a:lnTo>
                  <a:pt x="64008" y="210312"/>
                </a:lnTo>
                <a:lnTo>
                  <a:pt x="128016" y="109728"/>
                </a:lnTo>
                <a:lnTo>
                  <a:pt x="82296" y="109728"/>
                </a:lnTo>
                <a:lnTo>
                  <a:pt x="82296" y="0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10896" y="5065776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57200" y="5175504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7200" y="517550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5175504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Approval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5468112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Nothing real happens until someone says yes.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0624" y="5815584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815584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6656" y="581558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Holds one shopping list: the few things missing for the week.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0624" y="6227064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064" y="6227064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6656" y="622706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Ticking off the spinach it used needs nobody — it just says it did.</a:t>
            </a:r>
          </a:p>
        </p:txBody>
      </p:sp>
      <p:sp>
        <p:nvSpPr>
          <p:cNvPr id="98" name="Freeform 97"/>
          <p:cNvSpPr/>
          <p:nvPr/>
        </p:nvSpPr>
        <p:spPr>
          <a:xfrm>
            <a:off x="4005072" y="5797296"/>
            <a:ext cx="493776" cy="128016"/>
          </a:xfrm>
          <a:custGeom>
            <a:avLst/>
            <a:gdLst/>
            <a:ahLst/>
            <a:cxnLst/>
            <a:rect l="l" t="t" r="r" b="b"/>
            <a:pathLst>
              <a:path w="493776" h="128016">
                <a:moveTo>
                  <a:pt x="0" y="45720"/>
                </a:moveTo>
                <a:lnTo>
                  <a:pt x="393192" y="45720"/>
                </a:lnTo>
                <a:lnTo>
                  <a:pt x="393192" y="0"/>
                </a:lnTo>
                <a:lnTo>
                  <a:pt x="493776" y="64008"/>
                </a:lnTo>
                <a:lnTo>
                  <a:pt x="393192" y="128016"/>
                </a:lnTo>
                <a:lnTo>
                  <a:pt x="393192" y="82296"/>
                </a:lnTo>
                <a:lnTo>
                  <a:pt x="0" y="8229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535424" y="5449824"/>
            <a:ext cx="3108960" cy="822960"/>
          </a:xfrm>
          <a:prstGeom prst="roundRect">
            <a:avLst>
              <a:gd name="adj" fmla="val 50000"/>
            </a:avLst>
          </a:prstGeom>
          <a:solidFill>
            <a:srgbClr val="E9EFFC"/>
          </a:solidFill>
          <a:ln w="19050">
            <a:solidFill>
              <a:srgbClr val="3F6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777740" y="5733288"/>
            <a:ext cx="100584" cy="10058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4736592" y="5870448"/>
            <a:ext cx="182880" cy="91440"/>
          </a:xfrm>
          <a:custGeom>
            <a:avLst/>
            <a:gdLst/>
            <a:ahLst/>
            <a:cxnLst/>
            <a:rect l="l" t="t" r="r" b="b"/>
            <a:pathLst>
              <a:path w="182880" h="91440">
                <a:moveTo>
                  <a:pt x="0" y="91440"/>
                </a:moveTo>
                <a:lnTo>
                  <a:pt x="1757" y="73601"/>
                </a:lnTo>
                <a:lnTo>
                  <a:pt x="6960" y="56447"/>
                </a:lnTo>
                <a:lnTo>
                  <a:pt x="15410" y="40639"/>
                </a:lnTo>
                <a:lnTo>
                  <a:pt x="26782" y="26782"/>
                </a:lnTo>
                <a:lnTo>
                  <a:pt x="40639" y="15410"/>
                </a:lnTo>
                <a:lnTo>
                  <a:pt x="56447" y="6960"/>
                </a:lnTo>
                <a:lnTo>
                  <a:pt x="73601" y="1757"/>
                </a:lnTo>
                <a:lnTo>
                  <a:pt x="91440" y="0"/>
                </a:lnTo>
                <a:lnTo>
                  <a:pt x="109279" y="1757"/>
                </a:lnTo>
                <a:lnTo>
                  <a:pt x="126433" y="6960"/>
                </a:lnTo>
                <a:lnTo>
                  <a:pt x="142241" y="15410"/>
                </a:lnTo>
                <a:lnTo>
                  <a:pt x="156098" y="26782"/>
                </a:lnTo>
                <a:lnTo>
                  <a:pt x="167470" y="40639"/>
                </a:lnTo>
                <a:lnTo>
                  <a:pt x="175920" y="56447"/>
                </a:lnTo>
                <a:lnTo>
                  <a:pt x="181123" y="73601"/>
                </a:lnTo>
                <a:lnTo>
                  <a:pt x="182880" y="91440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29200" y="5449824"/>
            <a:ext cx="248716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1A1E2C"/>
                </a:solidFill>
                <a:latin typeface="Segoe UI"/>
              </a:rPr>
              <a:t>Approve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C6377"/>
                </a:solidFill>
                <a:latin typeface="Segoe UI"/>
              </a:rPr>
              <a:t>The plan goes to the board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680960" y="5861304"/>
            <a:ext cx="411480" cy="0"/>
          </a:xfrm>
          <a:prstGeom prst="line">
            <a:avLst/>
          </a:prstGeom>
          <a:ln w="27940">
            <a:solidFill>
              <a:srgbClr val="3F6F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8092440" y="5797296"/>
            <a:ext cx="100584" cy="128016"/>
          </a:xfrm>
          <a:custGeom>
            <a:avLst/>
            <a:gdLst/>
            <a:ahLst/>
            <a:cxnLst/>
            <a:rect l="l" t="t" r="r" b="b"/>
            <a:pathLst>
              <a:path w="100584" h="128016">
                <a:moveTo>
                  <a:pt x="0" y="0"/>
                </a:moveTo>
                <a:lnTo>
                  <a:pt x="100584" y="64008"/>
                </a:lnTo>
                <a:lnTo>
                  <a:pt x="0" y="128016"/>
                </a:lnTo>
                <a:close/>
              </a:path>
            </a:pathLst>
          </a:cu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8211312" y="5065776"/>
            <a:ext cx="365760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7780">
            <a:solidFill>
              <a:srgbClr val="3F6F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57616" y="5175504"/>
            <a:ext cx="237744" cy="237744"/>
          </a:xfrm>
          <a:prstGeom prst="ellipse">
            <a:avLst/>
          </a:prstGeom>
          <a:solidFill>
            <a:srgbClr val="3F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57616" y="517550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0" y="5175504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A1E2C"/>
                </a:solidFill>
                <a:latin typeface="Segoe UI"/>
              </a:rPr>
              <a:t>Monitor &amp; Adapt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076688" y="5184648"/>
            <a:ext cx="1664208" cy="219456"/>
          </a:xfrm>
          <a:prstGeom prst="roundRect">
            <a:avLst>
              <a:gd name="adj" fmla="val 50000"/>
            </a:avLst>
          </a:prstGeom>
          <a:solidFill>
            <a:srgbClr val="E2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076688" y="5184648"/>
            <a:ext cx="16642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C6377"/>
                </a:solidFill>
                <a:latin typeface="Segoe UI"/>
              </a:rPr>
              <a:t>Later, when a day passes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57616" y="5468112"/>
            <a:ext cx="3364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377"/>
                </a:solidFill>
                <a:latin typeface="Segoe UI"/>
              </a:rPr>
              <a:t>Keep the plan right afterwards.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321040" y="5815584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2480" y="5815584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77072" y="581558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Fish is delivered — it moves the fish forward before it spoils.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321040" y="6227064"/>
            <a:ext cx="3438144" cy="365760"/>
          </a:xfrm>
          <a:prstGeom prst="roundRect">
            <a:avLst>
              <a:gd name="adj" fmla="val 20000"/>
            </a:avLst>
          </a:prstGeom>
          <a:solidFill>
            <a:srgbClr val="E7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12480" y="6227064"/>
            <a:ext cx="1280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2A150"/>
                </a:solidFill>
                <a:latin typeface="Segoe UI"/>
              </a:rPr>
              <a:t>✓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77072" y="622706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E2C"/>
                </a:solidFill>
                <a:latin typeface="Segoe UI"/>
              </a:rPr>
              <a:t>Someone has a heavy training day — it raises the protein that evening, and says both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