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8912" y="237744"/>
            <a:ext cx="82296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spc="-30">
                <a:solidFill>
                  <a:srgbClr val="1A1E2C"/>
                </a:solidFill>
                <a:latin typeface="Segoe UI"/>
              </a:rPr>
              <a:t>One goal, eight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31520"/>
            <a:ext cx="10058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5C6377"/>
                </a:solidFill>
                <a:latin typeface="Segoe UI"/>
              </a:rPr>
              <a:t>"Plan my weekly meal." — what the Family Hub does with a sentence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115568"/>
            <a:ext cx="228600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868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5216" y="1115568"/>
            <a:ext cx="19933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1">
                <a:solidFill>
                  <a:srgbClr val="1A1E2C"/>
                </a:solidFill>
                <a:latin typeface="Segoe UI"/>
              </a:rPr>
              <a:t>"Plan my weekly meal."</a:t>
            </a:r>
          </a:p>
        </p:txBody>
      </p:sp>
      <p:sp>
        <p:nvSpPr>
          <p:cNvPr id="7" name="Freeform 6"/>
          <p:cNvSpPr/>
          <p:nvPr/>
        </p:nvSpPr>
        <p:spPr>
          <a:xfrm>
            <a:off x="2816352" y="1307592"/>
            <a:ext cx="365760" cy="128016"/>
          </a:xfrm>
          <a:custGeom>
            <a:avLst/>
            <a:gdLst/>
            <a:ahLst/>
            <a:cxnLst/>
            <a:rect l="l" t="t" r="r" b="b"/>
            <a:pathLst>
              <a:path w="365760" h="128016">
                <a:moveTo>
                  <a:pt x="0" y="45720"/>
                </a:moveTo>
                <a:lnTo>
                  <a:pt x="265176" y="45720"/>
                </a:lnTo>
                <a:lnTo>
                  <a:pt x="265176" y="0"/>
                </a:lnTo>
                <a:lnTo>
                  <a:pt x="365760" y="64008"/>
                </a:lnTo>
                <a:lnTo>
                  <a:pt x="265176" y="128016"/>
                </a:lnTo>
                <a:lnTo>
                  <a:pt x="265176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73552" y="1115568"/>
            <a:ext cx="3017520" cy="512064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 w="19050">
            <a:solidFill>
              <a:srgbClr val="3F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34156" y="1243584"/>
            <a:ext cx="100584" cy="10058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493008" y="1380744"/>
            <a:ext cx="182880" cy="91440"/>
          </a:xfrm>
          <a:custGeom>
            <a:avLst/>
            <a:gdLst/>
            <a:ahLst/>
            <a:cxnLst/>
            <a:rect l="l" t="t" r="r" b="b"/>
            <a:pathLst>
              <a:path w="182880" h="91440">
                <a:moveTo>
                  <a:pt x="0" y="91440"/>
                </a:moveTo>
                <a:lnTo>
                  <a:pt x="1757" y="73601"/>
                </a:lnTo>
                <a:lnTo>
                  <a:pt x="6960" y="56447"/>
                </a:lnTo>
                <a:lnTo>
                  <a:pt x="15410" y="40639"/>
                </a:lnTo>
                <a:lnTo>
                  <a:pt x="26782" y="26782"/>
                </a:lnTo>
                <a:lnTo>
                  <a:pt x="40639" y="15410"/>
                </a:lnTo>
                <a:lnTo>
                  <a:pt x="56447" y="6960"/>
                </a:lnTo>
                <a:lnTo>
                  <a:pt x="73601" y="1757"/>
                </a:lnTo>
                <a:lnTo>
                  <a:pt x="91440" y="0"/>
                </a:lnTo>
                <a:lnTo>
                  <a:pt x="109279" y="1757"/>
                </a:lnTo>
                <a:lnTo>
                  <a:pt x="126433" y="6960"/>
                </a:lnTo>
                <a:lnTo>
                  <a:pt x="142241" y="15410"/>
                </a:lnTo>
                <a:lnTo>
                  <a:pt x="156098" y="26782"/>
                </a:lnTo>
                <a:lnTo>
                  <a:pt x="167470" y="40639"/>
                </a:lnTo>
                <a:lnTo>
                  <a:pt x="175920" y="56447"/>
                </a:lnTo>
                <a:lnTo>
                  <a:pt x="181123" y="73601"/>
                </a:lnTo>
                <a:lnTo>
                  <a:pt x="182880" y="91440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6" y="1115568"/>
            <a:ext cx="23591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Confirm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C6377"/>
                </a:solidFill>
                <a:latin typeface="Segoe UI"/>
              </a:rPr>
              <a:t>The family checks it heard right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82312" y="1636776"/>
            <a:ext cx="0" cy="201168"/>
          </a:xfrm>
          <a:prstGeom prst="line">
            <a:avLst/>
          </a:prstGeom>
          <a:ln w="27940">
            <a:solidFill>
              <a:srgbClr val="3F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755648" y="1837944"/>
            <a:ext cx="3036722" cy="0"/>
          </a:xfrm>
          <a:prstGeom prst="line">
            <a:avLst/>
          </a:prstGeom>
          <a:ln w="27940">
            <a:solidFill>
              <a:srgbClr val="3F6F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1691640" y="1828800"/>
            <a:ext cx="128016" cy="192024"/>
          </a:xfrm>
          <a:custGeom>
            <a:avLst/>
            <a:gdLst/>
            <a:ahLst/>
            <a:cxnLst/>
            <a:rect l="l" t="t" r="r" b="b"/>
            <a:pathLst>
              <a:path w="128016" h="192024">
                <a:moveTo>
                  <a:pt x="45720" y="0"/>
                </a:moveTo>
                <a:lnTo>
                  <a:pt x="45720" y="91440"/>
                </a:lnTo>
                <a:lnTo>
                  <a:pt x="0" y="91440"/>
                </a:lnTo>
                <a:lnTo>
                  <a:pt x="64008" y="192024"/>
                </a:lnTo>
                <a:lnTo>
                  <a:pt x="128016" y="91440"/>
                </a:lnTo>
                <a:lnTo>
                  <a:pt x="82296" y="91440"/>
                </a:lnTo>
                <a:lnTo>
                  <a:pt x="82296" y="0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" y="2048256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3504" y="2203704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2185416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Pre-Check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" y="254203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Is the kitchen ready to be asked?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3504" y="2935224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03504" y="3017520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" y="3090672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3090672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The fridge was online and signed in, so it went ahead.</a:t>
            </a:r>
          </a:p>
        </p:txBody>
      </p:sp>
      <p:sp>
        <p:nvSpPr>
          <p:cNvPr id="24" name="Freeform 23"/>
          <p:cNvSpPr/>
          <p:nvPr/>
        </p:nvSpPr>
        <p:spPr>
          <a:xfrm>
            <a:off x="3108960" y="2834640"/>
            <a:ext cx="185928" cy="128016"/>
          </a:xfrm>
          <a:custGeom>
            <a:avLst/>
            <a:gdLst/>
            <a:ahLst/>
            <a:cxnLst/>
            <a:rect l="l" t="t" r="r" b="b"/>
            <a:pathLst>
              <a:path w="185928" h="128016">
                <a:moveTo>
                  <a:pt x="0" y="45720"/>
                </a:moveTo>
                <a:lnTo>
                  <a:pt x="85344" y="45720"/>
                </a:lnTo>
                <a:lnTo>
                  <a:pt x="85344" y="0"/>
                </a:lnTo>
                <a:lnTo>
                  <a:pt x="185928" y="64008"/>
                </a:lnTo>
                <a:lnTo>
                  <a:pt x="85344" y="128016"/>
                </a:lnTo>
                <a:lnTo>
                  <a:pt x="85344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31464" y="2048256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96056" y="2203704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6056" y="22037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1816" y="2185416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Capability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96056" y="254203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What is this fridge allowed to do?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496056" y="2935224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3496056" y="3017520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7496" y="3090672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2088" y="3090672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It could read the fridge, the calendar, the recipe book and the family's activity.</a:t>
            </a:r>
          </a:p>
        </p:txBody>
      </p:sp>
      <p:sp>
        <p:nvSpPr>
          <p:cNvPr id="34" name="Freeform 33"/>
          <p:cNvSpPr/>
          <p:nvPr/>
        </p:nvSpPr>
        <p:spPr>
          <a:xfrm>
            <a:off x="6001512" y="2834640"/>
            <a:ext cx="185928" cy="128016"/>
          </a:xfrm>
          <a:custGeom>
            <a:avLst/>
            <a:gdLst/>
            <a:ahLst/>
            <a:cxnLst/>
            <a:rect l="l" t="t" r="r" b="b"/>
            <a:pathLst>
              <a:path w="185928" h="128016">
                <a:moveTo>
                  <a:pt x="0" y="45720"/>
                </a:moveTo>
                <a:lnTo>
                  <a:pt x="85344" y="45720"/>
                </a:lnTo>
                <a:lnTo>
                  <a:pt x="85344" y="0"/>
                </a:lnTo>
                <a:lnTo>
                  <a:pt x="185928" y="64008"/>
                </a:lnTo>
                <a:lnTo>
                  <a:pt x="85344" y="128016"/>
                </a:lnTo>
                <a:lnTo>
                  <a:pt x="85344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24016" y="2048256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88608" y="2203704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8608" y="22037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4368" y="2185416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Task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8608" y="254203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Turn one sentence into a to-do list.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88608" y="2935224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388608" y="3017520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0048" y="3090672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4640" y="3090672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Broke the week into smaller jobs and kept track of them.</a:t>
            </a:r>
          </a:p>
        </p:txBody>
      </p:sp>
      <p:sp>
        <p:nvSpPr>
          <p:cNvPr id="44" name="Freeform 43"/>
          <p:cNvSpPr/>
          <p:nvPr/>
        </p:nvSpPr>
        <p:spPr>
          <a:xfrm>
            <a:off x="8894064" y="2834640"/>
            <a:ext cx="185928" cy="128016"/>
          </a:xfrm>
          <a:custGeom>
            <a:avLst/>
            <a:gdLst/>
            <a:ahLst/>
            <a:cxnLst/>
            <a:rect l="l" t="t" r="r" b="b"/>
            <a:pathLst>
              <a:path w="185928" h="128016">
                <a:moveTo>
                  <a:pt x="0" y="45720"/>
                </a:moveTo>
                <a:lnTo>
                  <a:pt x="85344" y="45720"/>
                </a:lnTo>
                <a:lnTo>
                  <a:pt x="85344" y="0"/>
                </a:lnTo>
                <a:lnTo>
                  <a:pt x="185928" y="64008"/>
                </a:lnTo>
                <a:lnTo>
                  <a:pt x="85344" y="128016"/>
                </a:lnTo>
                <a:lnTo>
                  <a:pt x="85344" y="82296"/>
                </a:lnTo>
                <a:lnTo>
                  <a:pt x="0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116568" y="2048256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281160" y="2203704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81160" y="22037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46920" y="2185416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Grounding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2542032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Go and look at the real world.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281160" y="2935224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281160" y="3017520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600" y="3090672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37192" y="3090672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Spinach, yoghurt, bread and chicken were about to go off.</a:t>
            </a:r>
          </a:p>
        </p:txBody>
      </p:sp>
      <p:sp>
        <p:nvSpPr>
          <p:cNvPr id="54" name="Freeform 53"/>
          <p:cNvSpPr/>
          <p:nvPr/>
        </p:nvSpPr>
        <p:spPr>
          <a:xfrm>
            <a:off x="10369296" y="3776472"/>
            <a:ext cx="128016" cy="292608"/>
          </a:xfrm>
          <a:custGeom>
            <a:avLst/>
            <a:gdLst/>
            <a:ahLst/>
            <a:cxnLst/>
            <a:rect l="l" t="t" r="r" b="b"/>
            <a:pathLst>
              <a:path w="128016" h="292608">
                <a:moveTo>
                  <a:pt x="45720" y="0"/>
                </a:moveTo>
                <a:lnTo>
                  <a:pt x="45720" y="192024"/>
                </a:lnTo>
                <a:lnTo>
                  <a:pt x="0" y="192024"/>
                </a:lnTo>
                <a:lnTo>
                  <a:pt x="64008" y="292608"/>
                </a:lnTo>
                <a:lnTo>
                  <a:pt x="128016" y="192024"/>
                </a:lnTo>
                <a:lnTo>
                  <a:pt x="82296" y="192024"/>
                </a:lnTo>
                <a:lnTo>
                  <a:pt x="82296" y="0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116568" y="4096512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281160" y="4251960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81160" y="42519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423367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Planner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1160" y="459028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Decide what to actually cook.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281160" y="4983480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281160" y="5065776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72600" y="5138928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537192" y="5138928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Seven dinners, each with the reason it is there.</a:t>
            </a:r>
          </a:p>
        </p:txBody>
      </p:sp>
      <p:sp>
        <p:nvSpPr>
          <p:cNvPr id="64" name="Freeform 63"/>
          <p:cNvSpPr/>
          <p:nvPr/>
        </p:nvSpPr>
        <p:spPr>
          <a:xfrm>
            <a:off x="8894064" y="4882896"/>
            <a:ext cx="185928" cy="128016"/>
          </a:xfrm>
          <a:custGeom>
            <a:avLst/>
            <a:gdLst/>
            <a:ahLst/>
            <a:cxnLst/>
            <a:rect l="l" t="t" r="r" b="b"/>
            <a:pathLst>
              <a:path w="185928" h="128016">
                <a:moveTo>
                  <a:pt x="185928" y="45720"/>
                </a:moveTo>
                <a:lnTo>
                  <a:pt x="100584" y="45720"/>
                </a:lnTo>
                <a:lnTo>
                  <a:pt x="100584" y="0"/>
                </a:lnTo>
                <a:lnTo>
                  <a:pt x="0" y="64008"/>
                </a:lnTo>
                <a:lnTo>
                  <a:pt x="100584" y="128016"/>
                </a:lnTo>
                <a:lnTo>
                  <a:pt x="100584" y="82296"/>
                </a:lnTo>
                <a:lnTo>
                  <a:pt x="185928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24016" y="4096512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388608" y="4251960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88608" y="42519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54368" y="423367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Safety Policy Engine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388608" y="459028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Check nothing breaks a house rule.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388608" y="4983480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6388608" y="5065776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80048" y="5138928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44640" y="5138928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The peanut allergy, no pork and low salt all held.</a:t>
            </a:r>
          </a:p>
        </p:txBody>
      </p:sp>
      <p:sp>
        <p:nvSpPr>
          <p:cNvPr id="74" name="Freeform 73"/>
          <p:cNvSpPr/>
          <p:nvPr/>
        </p:nvSpPr>
        <p:spPr>
          <a:xfrm>
            <a:off x="6001512" y="4882896"/>
            <a:ext cx="185928" cy="128016"/>
          </a:xfrm>
          <a:custGeom>
            <a:avLst/>
            <a:gdLst/>
            <a:ahLst/>
            <a:cxnLst/>
            <a:rect l="l" t="t" r="r" b="b"/>
            <a:pathLst>
              <a:path w="185928" h="128016">
                <a:moveTo>
                  <a:pt x="185928" y="45720"/>
                </a:moveTo>
                <a:lnTo>
                  <a:pt x="100584" y="45720"/>
                </a:lnTo>
                <a:lnTo>
                  <a:pt x="100584" y="0"/>
                </a:lnTo>
                <a:lnTo>
                  <a:pt x="0" y="64008"/>
                </a:lnTo>
                <a:lnTo>
                  <a:pt x="100584" y="128016"/>
                </a:lnTo>
                <a:lnTo>
                  <a:pt x="100584" y="82296"/>
                </a:lnTo>
                <a:lnTo>
                  <a:pt x="185928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331464" y="4096512"/>
            <a:ext cx="2633472" cy="1700784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496056" y="4251960"/>
            <a:ext cx="256032" cy="256032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496056" y="4251960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861816" y="4233672"/>
            <a:ext cx="197510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Approval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96056" y="4590288"/>
            <a:ext cx="2304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Nothing real happens without a person.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3496056" y="4983480"/>
            <a:ext cx="2304288" cy="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3496056" y="5065776"/>
            <a:ext cx="2304288" cy="603504"/>
          </a:xfrm>
          <a:prstGeom prst="roundRect">
            <a:avLst>
              <a:gd name="adj" fmla="val 12121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87496" y="5138928"/>
            <a:ext cx="146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752088" y="5138928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The shopping list changes waited for a yes.</a:t>
            </a:r>
          </a:p>
        </p:txBody>
      </p:sp>
      <p:sp>
        <p:nvSpPr>
          <p:cNvPr id="84" name="Freeform 83"/>
          <p:cNvSpPr/>
          <p:nvPr/>
        </p:nvSpPr>
        <p:spPr>
          <a:xfrm>
            <a:off x="3108960" y="4882896"/>
            <a:ext cx="185928" cy="128016"/>
          </a:xfrm>
          <a:custGeom>
            <a:avLst/>
            <a:gdLst/>
            <a:ahLst/>
            <a:cxnLst/>
            <a:rect l="l" t="t" r="r" b="b"/>
            <a:pathLst>
              <a:path w="185928" h="128016">
                <a:moveTo>
                  <a:pt x="185928" y="45720"/>
                </a:moveTo>
                <a:lnTo>
                  <a:pt x="100584" y="45720"/>
                </a:lnTo>
                <a:lnTo>
                  <a:pt x="100584" y="0"/>
                </a:lnTo>
                <a:lnTo>
                  <a:pt x="0" y="64008"/>
                </a:lnTo>
                <a:lnTo>
                  <a:pt x="100584" y="128016"/>
                </a:lnTo>
                <a:lnTo>
                  <a:pt x="100584" y="82296"/>
                </a:lnTo>
                <a:lnTo>
                  <a:pt x="185928" y="82296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438912" y="4535424"/>
            <a:ext cx="2633472" cy="822960"/>
          </a:xfrm>
          <a:prstGeom prst="roundRect">
            <a:avLst>
              <a:gd name="adj" fmla="val 50000"/>
            </a:avLst>
          </a:prstGeom>
          <a:solidFill>
            <a:srgbClr val="E9EFFC"/>
          </a:solidFill>
          <a:ln w="19050">
            <a:solidFill>
              <a:srgbClr val="3F6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99516" y="4818888"/>
            <a:ext cx="100584" cy="10058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658368" y="4956048"/>
            <a:ext cx="182880" cy="91440"/>
          </a:xfrm>
          <a:custGeom>
            <a:avLst/>
            <a:gdLst/>
            <a:ahLst/>
            <a:cxnLst/>
            <a:rect l="l" t="t" r="r" b="b"/>
            <a:pathLst>
              <a:path w="182880" h="91440">
                <a:moveTo>
                  <a:pt x="0" y="91440"/>
                </a:moveTo>
                <a:lnTo>
                  <a:pt x="1757" y="73601"/>
                </a:lnTo>
                <a:lnTo>
                  <a:pt x="6960" y="56447"/>
                </a:lnTo>
                <a:lnTo>
                  <a:pt x="15410" y="40639"/>
                </a:lnTo>
                <a:lnTo>
                  <a:pt x="26782" y="26782"/>
                </a:lnTo>
                <a:lnTo>
                  <a:pt x="40639" y="15410"/>
                </a:lnTo>
                <a:lnTo>
                  <a:pt x="56447" y="6960"/>
                </a:lnTo>
                <a:lnTo>
                  <a:pt x="73601" y="1757"/>
                </a:lnTo>
                <a:lnTo>
                  <a:pt x="91440" y="0"/>
                </a:lnTo>
                <a:lnTo>
                  <a:pt x="109279" y="1757"/>
                </a:lnTo>
                <a:lnTo>
                  <a:pt x="126433" y="6960"/>
                </a:lnTo>
                <a:lnTo>
                  <a:pt x="142241" y="15410"/>
                </a:lnTo>
                <a:lnTo>
                  <a:pt x="156098" y="26782"/>
                </a:lnTo>
                <a:lnTo>
                  <a:pt x="167470" y="40639"/>
                </a:lnTo>
                <a:lnTo>
                  <a:pt x="175920" y="56447"/>
                </a:lnTo>
                <a:lnTo>
                  <a:pt x="181123" y="73601"/>
                </a:lnTo>
                <a:lnTo>
                  <a:pt x="182880" y="91440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50976" y="4535424"/>
            <a:ext cx="19751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Approve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C6377"/>
                </a:solidFill>
                <a:latin typeface="Segoe UI"/>
              </a:rPr>
              <a:t>The plan goes to the board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1280160" y="5385816"/>
            <a:ext cx="0" cy="576072"/>
          </a:xfrm>
          <a:prstGeom prst="line">
            <a:avLst/>
          </a:prstGeom>
          <a:ln w="25400">
            <a:solidFill>
              <a:srgbClr val="3F6F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reeform 89"/>
          <p:cNvSpPr/>
          <p:nvPr/>
        </p:nvSpPr>
        <p:spPr>
          <a:xfrm>
            <a:off x="1216152" y="5952744"/>
            <a:ext cx="128016" cy="100584"/>
          </a:xfrm>
          <a:custGeom>
            <a:avLst/>
            <a:gdLst/>
            <a:ahLst/>
            <a:cxnLst/>
            <a:rect l="l" t="t" r="r" b="b"/>
            <a:pathLst>
              <a:path w="128016" h="100584">
                <a:moveTo>
                  <a:pt x="45720" y="9144"/>
                </a:moveTo>
                <a:lnTo>
                  <a:pt x="45720" y="0"/>
                </a:lnTo>
                <a:lnTo>
                  <a:pt x="0" y="0"/>
                </a:lnTo>
                <a:lnTo>
                  <a:pt x="64008" y="100584"/>
                </a:lnTo>
                <a:lnTo>
                  <a:pt x="128016" y="0"/>
                </a:lnTo>
                <a:lnTo>
                  <a:pt x="82296" y="0"/>
                </a:lnTo>
                <a:lnTo>
                  <a:pt x="82296" y="9144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2231136" y="5468112"/>
            <a:ext cx="0" cy="576072"/>
          </a:xfrm>
          <a:prstGeom prst="line">
            <a:avLst/>
          </a:prstGeom>
          <a:ln w="25400">
            <a:solidFill>
              <a:srgbClr val="3F6FE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reeform 91"/>
          <p:cNvSpPr/>
          <p:nvPr/>
        </p:nvSpPr>
        <p:spPr>
          <a:xfrm>
            <a:off x="2167128" y="5376672"/>
            <a:ext cx="128016" cy="100584"/>
          </a:xfrm>
          <a:custGeom>
            <a:avLst/>
            <a:gdLst/>
            <a:ahLst/>
            <a:cxnLst/>
            <a:rect l="l" t="t" r="r" b="b"/>
            <a:pathLst>
              <a:path w="128016" h="100584">
                <a:moveTo>
                  <a:pt x="45720" y="91440"/>
                </a:moveTo>
                <a:lnTo>
                  <a:pt x="45720" y="100584"/>
                </a:lnTo>
                <a:lnTo>
                  <a:pt x="0" y="100584"/>
                </a:lnTo>
                <a:lnTo>
                  <a:pt x="64008" y="0"/>
                </a:lnTo>
                <a:lnTo>
                  <a:pt x="128016" y="100584"/>
                </a:lnTo>
                <a:lnTo>
                  <a:pt x="82296" y="100584"/>
                </a:lnTo>
                <a:lnTo>
                  <a:pt x="82296" y="91440"/>
                </a:lnTo>
                <a:close/>
              </a:path>
            </a:pathLst>
          </a:cu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438912" y="6071616"/>
            <a:ext cx="11311128" cy="585216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3970">
            <a:solidFill>
              <a:srgbClr val="868F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03504" y="6245352"/>
            <a:ext cx="237744" cy="237744"/>
          </a:xfrm>
          <a:prstGeom prst="ellipse">
            <a:avLst/>
          </a:prstGeom>
          <a:solidFill>
            <a:srgbClr val="3F6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03504" y="624535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2688" y="6071616"/>
            <a:ext cx="18288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>
                <a:solidFill>
                  <a:srgbClr val="1A1E2C"/>
                </a:solidFill>
                <a:latin typeface="Segoe UI"/>
              </a:rPr>
              <a:t>Monitor &amp; Adapt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852928" y="6236208"/>
            <a:ext cx="1874520" cy="256032"/>
          </a:xfrm>
          <a:prstGeom prst="roundRect">
            <a:avLst>
              <a:gd name="adj" fmla="val 50000"/>
            </a:avLst>
          </a:prstGeom>
          <a:solidFill>
            <a:srgbClr val="E2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52928" y="6236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C6377"/>
                </a:solidFill>
                <a:latin typeface="Segoe UI"/>
              </a:rPr>
              <a:t>Later, when a day passes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10912" y="6071616"/>
            <a:ext cx="292608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C6377"/>
                </a:solidFill>
                <a:latin typeface="Segoe UI"/>
              </a:rPr>
              <a:t>Keep watching after the plan is made.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8101584" y="6181344"/>
            <a:ext cx="0" cy="365760"/>
          </a:xfrm>
          <a:prstGeom prst="line">
            <a:avLst/>
          </a:prstGeom>
          <a:ln w="12700">
            <a:solidFill>
              <a:srgbClr val="E2E6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8229600" y="6181344"/>
            <a:ext cx="3392424" cy="365760"/>
          </a:xfrm>
          <a:prstGeom prst="roundRect">
            <a:avLst>
              <a:gd name="adj" fmla="val 20000"/>
            </a:avLst>
          </a:prstGeom>
          <a:solidFill>
            <a:srgbClr val="E7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339328" y="6071616"/>
            <a:ext cx="146304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12A150"/>
                </a:solidFill>
                <a:latin typeface="Segoe UI"/>
              </a:rPr>
              <a:t>✓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503920" y="6071616"/>
            <a:ext cx="300837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1A1E2C"/>
                </a:solidFill>
                <a:latin typeface="Segoe UI"/>
              </a:rPr>
              <a:t>Fish arrived, so it changed the next dinner.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