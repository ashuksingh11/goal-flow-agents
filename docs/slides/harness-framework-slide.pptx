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7744" y="1463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spc="20">
                <a:solidFill>
                  <a:srgbClr val="1A1E2C"/>
                </a:solidFill>
                <a:latin typeface="Segoe UI"/>
              </a:rPr>
              <a:t>THE NINE HARNESSES, AND WHAT EACH ONE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47548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377"/>
                </a:solidFill>
                <a:latin typeface="Segoe UI"/>
              </a:rPr>
              <a:t>Every part of the agent that runs on the fridge — all nine are built and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713232"/>
            <a:ext cx="11750040" cy="365760"/>
          </a:xfrm>
          <a:prstGeom prst="roundRect">
            <a:avLst>
              <a:gd name="adj" fmla="val 20000"/>
            </a:avLst>
          </a:prstGeom>
          <a:solidFill>
            <a:srgbClr val="1A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" y="987552"/>
            <a:ext cx="11750040" cy="5650992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" y="987552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987552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" y="1591056"/>
            <a:ext cx="11750040" cy="6035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" y="2798064"/>
            <a:ext cx="11750040" cy="6035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" y="4005072"/>
            <a:ext cx="11750040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" y="5431536"/>
            <a:ext cx="11750040" cy="6035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19456" y="1591056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9456" y="2194560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9456" y="2798064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9456" y="3401568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9456" y="4005072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9456" y="4828032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9456" y="5431536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9456" y="6035040"/>
            <a:ext cx="11750040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9456" y="7132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71323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713232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WHAT IT IS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71323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WHAT IT DOES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713232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10">
                <a:solidFill>
                  <a:srgbClr val="FFFFFF"/>
                </a:solidFill>
                <a:latin typeface="Segoe UI"/>
              </a:rPr>
              <a:t>ON A FAMILY HUB</a:t>
            </a:r>
          </a:p>
        </p:txBody>
      </p:sp>
      <p:sp>
        <p:nvSpPr>
          <p:cNvPr id="26" name="Oval 25"/>
          <p:cNvSpPr/>
          <p:nvPr/>
        </p:nvSpPr>
        <p:spPr>
          <a:xfrm>
            <a:off x="283464" y="1005840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100584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1042416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Pre-check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1042416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Make sure things work before it starts.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79008" y="1117854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16168" y="1042416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Checks what it needs is switched 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9008" y="1282446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6168" y="1207008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Checks again just before it acts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9008" y="1447038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16168" y="1371600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Stops with a fix you can do</a:t>
            </a:r>
          </a:p>
        </p:txBody>
      </p:sp>
      <p:sp>
        <p:nvSpPr>
          <p:cNvPr id="36" name="Oval 35"/>
          <p:cNvSpPr/>
          <p:nvPr/>
        </p:nvSpPr>
        <p:spPr>
          <a:xfrm>
            <a:off x="9015984" y="1101852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10424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Signed in to the account</a:t>
            </a:r>
          </a:p>
        </p:txBody>
      </p:sp>
      <p:sp>
        <p:nvSpPr>
          <p:cNvPr id="38" name="Oval 37"/>
          <p:cNvSpPr/>
          <p:nvPr/>
        </p:nvSpPr>
        <p:spPr>
          <a:xfrm>
            <a:off x="9015984" y="1266444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120700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Internet and smart home working</a:t>
            </a:r>
          </a:p>
        </p:txBody>
      </p:sp>
      <p:sp>
        <p:nvSpPr>
          <p:cNvPr id="40" name="Oval 39"/>
          <p:cNvSpPr/>
          <p:nvPr/>
        </p:nvSpPr>
        <p:spPr>
          <a:xfrm>
            <a:off x="9015984" y="1431036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37160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Oven or fridge switched on</a:t>
            </a:r>
          </a:p>
        </p:txBody>
      </p:sp>
      <p:sp>
        <p:nvSpPr>
          <p:cNvPr id="42" name="Oval 41"/>
          <p:cNvSpPr/>
          <p:nvPr/>
        </p:nvSpPr>
        <p:spPr>
          <a:xfrm>
            <a:off x="283464" y="1609344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" y="16093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1645920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Capability 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7712" y="1645920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Know what the fridge can 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79008" y="1721358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16168" y="1645920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Finds everything the fridge can 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79008" y="1885950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16168" y="1810512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Keeps looking apart from doing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79008" y="2050542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16168" y="1975104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Hides what it is not allowed to do</a:t>
            </a:r>
          </a:p>
        </p:txBody>
      </p:sp>
      <p:sp>
        <p:nvSpPr>
          <p:cNvPr id="52" name="Oval 51"/>
          <p:cNvSpPr/>
          <p:nvPr/>
        </p:nvSpPr>
        <p:spPr>
          <a:xfrm>
            <a:off x="9015984" y="1705356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164592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Food in the fridge, recipes</a:t>
            </a:r>
          </a:p>
        </p:txBody>
      </p:sp>
      <p:sp>
        <p:nvSpPr>
          <p:cNvPr id="54" name="Oval 53"/>
          <p:cNvSpPr/>
          <p:nvPr/>
        </p:nvSpPr>
        <p:spPr>
          <a:xfrm>
            <a:off x="9015984" y="1869948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181051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Calendar, reminders, who lives here</a:t>
            </a:r>
          </a:p>
        </p:txBody>
      </p:sp>
      <p:sp>
        <p:nvSpPr>
          <p:cNvPr id="56" name="Oval 55"/>
          <p:cNvSpPr/>
          <p:nvPr/>
        </p:nvSpPr>
        <p:spPr>
          <a:xfrm>
            <a:off x="9015984" y="2034540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197510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Shopping, deliveries, appliances</a:t>
            </a:r>
          </a:p>
        </p:txBody>
      </p:sp>
      <p:sp>
        <p:nvSpPr>
          <p:cNvPr id="58" name="Oval 57"/>
          <p:cNvSpPr/>
          <p:nvPr/>
        </p:nvSpPr>
        <p:spPr>
          <a:xfrm>
            <a:off x="283464" y="2212848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221284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" y="2249424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Task Manager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67712" y="2249424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Break a goal into jobs and follow them.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79008" y="2324862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16168" y="2249424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Splits one goal into smaller jobs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79008" y="2489454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16168" y="2414016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Follows each job to the end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79008" y="2654046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16168" y="2578608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Pauses, retries or drops a job</a:t>
            </a:r>
          </a:p>
        </p:txBody>
      </p:sp>
      <p:sp>
        <p:nvSpPr>
          <p:cNvPr id="68" name="Oval 67"/>
          <p:cNvSpPr/>
          <p:nvPr/>
        </p:nvSpPr>
        <p:spPr>
          <a:xfrm>
            <a:off x="9015984" y="2308860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0" y="224942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Plan the week's meals</a:t>
            </a:r>
          </a:p>
        </p:txBody>
      </p:sp>
      <p:sp>
        <p:nvSpPr>
          <p:cNvPr id="70" name="Oval 69"/>
          <p:cNvSpPr/>
          <p:nvPr/>
        </p:nvSpPr>
        <p:spPr>
          <a:xfrm>
            <a:off x="9015984" y="2473452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0" y="24140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Get the home ready before a trip</a:t>
            </a:r>
          </a:p>
        </p:txBody>
      </p:sp>
      <p:sp>
        <p:nvSpPr>
          <p:cNvPr id="72" name="Oval 71"/>
          <p:cNvSpPr/>
          <p:nvPr/>
        </p:nvSpPr>
        <p:spPr>
          <a:xfrm>
            <a:off x="9015984" y="2638044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0" y="257860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Plan a birthday or a dinner</a:t>
            </a:r>
          </a:p>
        </p:txBody>
      </p:sp>
      <p:sp>
        <p:nvSpPr>
          <p:cNvPr id="74" name="Oval 73"/>
          <p:cNvSpPr/>
          <p:nvPr/>
        </p:nvSpPr>
        <p:spPr>
          <a:xfrm>
            <a:off x="283464" y="2816352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" y="281635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" y="2852928"/>
            <a:ext cx="14081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Context &amp; Grounding</a:t>
            </a:r>
          </a:p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Engine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67712" y="2852928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Look at what is really going on at home.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79008" y="2928366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16168" y="2852928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Reads what is true right now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79008" y="3092958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16168" y="3017520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Only looks, never changes anything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9008" y="3257550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16168" y="3182112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Knows what day it is</a:t>
            </a:r>
          </a:p>
        </p:txBody>
      </p:sp>
      <p:sp>
        <p:nvSpPr>
          <p:cNvPr id="84" name="Oval 83"/>
          <p:cNvSpPr/>
          <p:nvPr/>
        </p:nvSpPr>
        <p:spPr>
          <a:xfrm>
            <a:off x="9015984" y="2912364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44000" y="285292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What is in the fridge, what is going off</a:t>
            </a:r>
          </a:p>
        </p:txBody>
      </p:sp>
      <p:sp>
        <p:nvSpPr>
          <p:cNvPr id="86" name="Oval 85"/>
          <p:cNvSpPr/>
          <p:nvPr/>
        </p:nvSpPr>
        <p:spPr>
          <a:xfrm>
            <a:off x="9015984" y="3076956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44000" y="301752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What the family has on this week</a:t>
            </a:r>
          </a:p>
        </p:txBody>
      </p:sp>
      <p:sp>
        <p:nvSpPr>
          <p:cNvPr id="88" name="Oval 87"/>
          <p:cNvSpPr/>
          <p:nvPr/>
        </p:nvSpPr>
        <p:spPr>
          <a:xfrm>
            <a:off x="9015984" y="3241548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0" y="318211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What the household will and won't eat</a:t>
            </a:r>
          </a:p>
        </p:txBody>
      </p:sp>
      <p:sp>
        <p:nvSpPr>
          <p:cNvPr id="90" name="Oval 89"/>
          <p:cNvSpPr/>
          <p:nvPr/>
        </p:nvSpPr>
        <p:spPr>
          <a:xfrm>
            <a:off x="283464" y="3419856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3464" y="34198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6656" y="3456432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Goal Planner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67712" y="3456432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Work out the plan, day by day.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79008" y="3531870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16168" y="3456432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Weighs the choices against house rules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79008" y="3696462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16168" y="3621024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Puts a day against every step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79008" y="3861054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16168" y="3785616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Says what it turned down, and why</a:t>
            </a:r>
          </a:p>
        </p:txBody>
      </p:sp>
      <p:sp>
        <p:nvSpPr>
          <p:cNvPr id="100" name="Oval 99"/>
          <p:cNvSpPr/>
          <p:nvPr/>
        </p:nvSpPr>
        <p:spPr>
          <a:xfrm>
            <a:off x="9015984" y="3515868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44000" y="34564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Seven dinners, each with a reason</a:t>
            </a:r>
          </a:p>
        </p:txBody>
      </p:sp>
      <p:sp>
        <p:nvSpPr>
          <p:cNvPr id="102" name="Oval 101"/>
          <p:cNvSpPr/>
          <p:nvPr/>
        </p:nvSpPr>
        <p:spPr>
          <a:xfrm>
            <a:off x="9015984" y="3680460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0" y="362102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Jobs before you go, jobs for when you're back</a:t>
            </a:r>
          </a:p>
        </p:txBody>
      </p:sp>
      <p:sp>
        <p:nvSpPr>
          <p:cNvPr id="104" name="Oval 103"/>
          <p:cNvSpPr/>
          <p:nvPr/>
        </p:nvSpPr>
        <p:spPr>
          <a:xfrm>
            <a:off x="9015984" y="3845052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44000" y="37856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A dish dropped because you'd rather not</a:t>
            </a:r>
          </a:p>
        </p:txBody>
      </p:sp>
      <p:sp>
        <p:nvSpPr>
          <p:cNvPr id="106" name="Oval 105"/>
          <p:cNvSpPr/>
          <p:nvPr/>
        </p:nvSpPr>
        <p:spPr>
          <a:xfrm>
            <a:off x="283464" y="4050792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3464" y="405079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6656" y="4087368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Safety Policy Engine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67712" y="4087368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Decide what it may do alone, and what it must ask about.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79008" y="4162806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16168" y="4087368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Sorts every action into four levels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008" y="4327398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16168" y="4251960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Holds the house rules on every action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008" y="4491990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916168" y="4416552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Drops unsafe choices before they are offered</a:t>
            </a:r>
          </a:p>
        </p:txBody>
      </p:sp>
      <p:sp>
        <p:nvSpPr>
          <p:cNvPr id="116" name="Oval 115"/>
          <p:cNvSpPr/>
          <p:nvPr/>
        </p:nvSpPr>
        <p:spPr>
          <a:xfrm>
            <a:off x="9015984" y="4146804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144000" y="4087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Just do it — tick off food that was used</a:t>
            </a:r>
          </a:p>
        </p:txBody>
      </p:sp>
      <p:sp>
        <p:nvSpPr>
          <p:cNvPr id="118" name="Oval 117"/>
          <p:cNvSpPr/>
          <p:nvPr/>
        </p:nvSpPr>
        <p:spPr>
          <a:xfrm>
            <a:off x="9015984" y="4311396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44000" y="425196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Tell you — add to the shopping list</a:t>
            </a:r>
          </a:p>
        </p:txBody>
      </p:sp>
      <p:sp>
        <p:nvSpPr>
          <p:cNvPr id="120" name="Oval 119"/>
          <p:cNvSpPr/>
          <p:nvPr/>
        </p:nvSpPr>
        <p:spPr>
          <a:xfrm>
            <a:off x="9015984" y="4475988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44000" y="441655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Ask first — buy something, stop a delivery</a:t>
            </a:r>
          </a:p>
        </p:txBody>
      </p:sp>
      <p:sp>
        <p:nvSpPr>
          <p:cNvPr id="122" name="Oval 121"/>
          <p:cNvSpPr/>
          <p:nvPr/>
        </p:nvSpPr>
        <p:spPr>
          <a:xfrm>
            <a:off x="9015984" y="4640580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44000" y="458114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Never — there is no way to allow it</a:t>
            </a:r>
          </a:p>
        </p:txBody>
      </p:sp>
      <p:sp>
        <p:nvSpPr>
          <p:cNvPr id="124" name="Oval 123"/>
          <p:cNvSpPr/>
          <p:nvPr/>
        </p:nvSpPr>
        <p:spPr>
          <a:xfrm>
            <a:off x="283464" y="4846320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3464" y="48463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6656" y="4882896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Approval Manager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267712" y="4882896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Nothing real happens until someone says yes.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79008" y="4958334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16168" y="4882896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Holds back anything that changes things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779008" y="5122926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916168" y="5047488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Puts it all in one list to agree to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779008" y="5287518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16168" y="5212080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Only does what was agreed</a:t>
            </a:r>
          </a:p>
        </p:txBody>
      </p:sp>
      <p:sp>
        <p:nvSpPr>
          <p:cNvPr id="134" name="Oval 133"/>
          <p:cNvSpPr/>
          <p:nvPr/>
        </p:nvSpPr>
        <p:spPr>
          <a:xfrm>
            <a:off x="9015984" y="4942332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00" y="488289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Say yes to the week's shopping</a:t>
            </a:r>
          </a:p>
        </p:txBody>
      </p:sp>
      <p:sp>
        <p:nvSpPr>
          <p:cNvPr id="136" name="Oval 135"/>
          <p:cNvSpPr/>
          <p:nvPr/>
        </p:nvSpPr>
        <p:spPr>
          <a:xfrm>
            <a:off x="9015984" y="5106924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44000" y="504748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Say yes to pausing deliveries</a:t>
            </a:r>
          </a:p>
        </p:txBody>
      </p:sp>
      <p:sp>
        <p:nvSpPr>
          <p:cNvPr id="138" name="Oval 137"/>
          <p:cNvSpPr/>
          <p:nvPr/>
        </p:nvSpPr>
        <p:spPr>
          <a:xfrm>
            <a:off x="9015984" y="5271516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144000" y="521208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Say no to one thing, keep the rest</a:t>
            </a:r>
          </a:p>
        </p:txBody>
      </p:sp>
      <p:sp>
        <p:nvSpPr>
          <p:cNvPr id="140" name="Oval 139"/>
          <p:cNvSpPr/>
          <p:nvPr/>
        </p:nvSpPr>
        <p:spPr>
          <a:xfrm>
            <a:off x="283464" y="5449824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83464" y="54498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6656" y="5486400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Product API Adapter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267712" y="5486400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The one place the agent talks to the fridge.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779008" y="5561838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16168" y="5486400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Everything it reads or changes goes through here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79008" y="5726430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916168" y="5650992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Hides the differences between products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779008" y="5891022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916168" y="5815584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Change the product, keep the agent</a:t>
            </a:r>
          </a:p>
        </p:txBody>
      </p:sp>
      <p:sp>
        <p:nvSpPr>
          <p:cNvPr id="150" name="Oval 149"/>
          <p:cNvSpPr/>
          <p:nvPr/>
        </p:nvSpPr>
        <p:spPr>
          <a:xfrm>
            <a:off x="9015984" y="5545836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144000" y="548640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Food and recipes</a:t>
            </a:r>
          </a:p>
        </p:txBody>
      </p:sp>
      <p:sp>
        <p:nvSpPr>
          <p:cNvPr id="152" name="Oval 151"/>
          <p:cNvSpPr/>
          <p:nvPr/>
        </p:nvSpPr>
        <p:spPr>
          <a:xfrm>
            <a:off x="9015984" y="5710428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144000" y="565099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Calendar and family</a:t>
            </a:r>
          </a:p>
        </p:txBody>
      </p:sp>
      <p:sp>
        <p:nvSpPr>
          <p:cNvPr id="154" name="Oval 153"/>
          <p:cNvSpPr/>
          <p:nvPr/>
        </p:nvSpPr>
        <p:spPr>
          <a:xfrm>
            <a:off x="9015984" y="5875020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144000" y="581558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Appliances, security, deliveries</a:t>
            </a:r>
          </a:p>
        </p:txBody>
      </p:sp>
      <p:sp>
        <p:nvSpPr>
          <p:cNvPr id="156" name="Oval 155"/>
          <p:cNvSpPr/>
          <p:nvPr/>
        </p:nvSpPr>
        <p:spPr>
          <a:xfrm>
            <a:off x="283464" y="6053328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83464" y="605332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6656" y="6089904"/>
            <a:ext cx="1408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E2C"/>
                </a:solidFill>
                <a:latin typeface="Segoe UI"/>
              </a:rPr>
              <a:t>Monitor &amp; Adapt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67712" y="6089904"/>
            <a:ext cx="33101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Keep the plan right after it is agreed.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779008" y="6165342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916168" y="6089904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Keeps watching the home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779008" y="6329934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916168" y="6254496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Works out whether a change matters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79008" y="6494526"/>
            <a:ext cx="73152" cy="13716"/>
          </a:xfrm>
          <a:prstGeom prst="rect">
            <a:avLst/>
          </a:prstGeom>
          <a:solidFill>
            <a:srgbClr val="AE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916168" y="6419088"/>
            <a:ext cx="28986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377"/>
                </a:solidFill>
                <a:latin typeface="Segoe UI"/>
              </a:rPr>
              <a:t>Only redoes the part that changed</a:t>
            </a:r>
          </a:p>
        </p:txBody>
      </p:sp>
      <p:sp>
        <p:nvSpPr>
          <p:cNvPr id="166" name="Oval 165"/>
          <p:cNvSpPr/>
          <p:nvPr/>
        </p:nvSpPr>
        <p:spPr>
          <a:xfrm>
            <a:off x="9015984" y="6149340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144000" y="608990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Food arrives, or is about to go off</a:t>
            </a:r>
          </a:p>
        </p:txBody>
      </p:sp>
      <p:sp>
        <p:nvSpPr>
          <p:cNvPr id="168" name="Oval 167"/>
          <p:cNvSpPr/>
          <p:nvPr/>
        </p:nvSpPr>
        <p:spPr>
          <a:xfrm>
            <a:off x="9015984" y="6313932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144000" y="625449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More guests than planned</a:t>
            </a:r>
          </a:p>
        </p:txBody>
      </p:sp>
      <p:sp>
        <p:nvSpPr>
          <p:cNvPr id="170" name="Oval 169"/>
          <p:cNvSpPr/>
          <p:nvPr/>
        </p:nvSpPr>
        <p:spPr>
          <a:xfrm>
            <a:off x="9015984" y="6478524"/>
            <a:ext cx="45720" cy="45720"/>
          </a:xfrm>
          <a:prstGeom prst="ellipse">
            <a:avLst/>
          </a:prstGeom>
          <a:solidFill>
            <a:srgbClr val="95B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144000" y="641908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E2C"/>
                </a:solidFill>
                <a:latin typeface="Segoe UI"/>
              </a:rPr>
              <a:t>Another plan takes some days 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